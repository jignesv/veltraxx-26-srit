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Horizon" panose="020B0604020202020204" charset="0"/>
      <p:regular r:id="rId11"/>
    </p:embeddedFont>
    <p:embeddedFont>
      <p:font typeface="Times New Roman MT" panose="020B0604020202020204" charset="0"/>
      <p:regular r:id="rId12"/>
    </p:embeddedFont>
    <p:embeddedFont>
      <p:font typeface="Times New Roman M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6FA84-21E7-4ACB-B4B4-19BE04D53317}" v="26" dt="2026-08-28T14:15:29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ISCAS.2019.8702507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i.org/10.1109/CICC.1997.60667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hyperlink" Target="https://www.amd.com/en/products/software/adaptive-socs-and-fpgas/vivado.html?utm_source=chatgpt.com" TargetMode="External"/><Relationship Id="rId4" Type="http://schemas.openxmlformats.org/officeDocument/2006/relationships/image" Target="../media/image4.svg"/><Relationship Id="rId9" Type="http://schemas.openxmlformats.org/officeDocument/2006/relationships/hyperlink" Target="https://documentation-service.arm.com/static/617a637283e60c5c768e2241?token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362341" y="2362123"/>
            <a:ext cx="6473404" cy="6759319"/>
          </a:xfrm>
          <a:custGeom>
            <a:avLst/>
            <a:gdLst/>
            <a:ahLst/>
            <a:cxnLst/>
            <a:rect l="l" t="t" r="r" b="b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376346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5243814" y="1910177"/>
            <a:ext cx="6993421" cy="1253616"/>
          </a:xfrm>
          <a:custGeom>
            <a:avLst/>
            <a:gdLst/>
            <a:ahLst/>
            <a:cxnLst/>
            <a:rect l="l" t="t" r="r" b="b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110" b="-3484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991CD-7740-E771-B3B0-AFE82A2B9440}"/>
              </a:ext>
            </a:extLst>
          </p:cNvPr>
          <p:cNvSpPr txBox="1"/>
          <p:nvPr/>
        </p:nvSpPr>
        <p:spPr>
          <a:xfrm>
            <a:off x="1295400" y="3771900"/>
            <a:ext cx="149352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REBELS</a:t>
            </a:r>
          </a:p>
          <a:p>
            <a:pPr>
              <a:spcAft>
                <a:spcPts val="1800"/>
              </a:spcAft>
            </a:pP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PROBELM STATEMENT NO :</a:t>
            </a: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 01</a:t>
            </a:r>
          </a:p>
          <a:p>
            <a:pPr>
              <a:spcAft>
                <a:spcPts val="1800"/>
              </a:spcAft>
            </a:pP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</a:t>
            </a: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 and Verification of a Low-Power Clock Gating Controller for Mobile SoC</a:t>
            </a:r>
          </a:p>
          <a:p>
            <a:pPr>
              <a:spcAft>
                <a:spcPts val="1800"/>
              </a:spcAft>
            </a:pP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4188308"/>
            <a:ext cx="9695917" cy="422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3200" b="1" dirty="0"/>
              <a:t>High Power Consumption:</a:t>
            </a:r>
            <a:r>
              <a:rPr lang="en-IN" sz="3200" dirty="0"/>
              <a:t> Inactive blocks keep receiving clock signals, wasting battery power. 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3200" b="1" dirty="0"/>
              <a:t>Unsafe Clock Gating:</a:t>
            </a:r>
            <a:r>
              <a:rPr lang="en-IN" sz="3200" dirty="0"/>
              <a:t> Improper gating can cause glitches and incomplete clock pulses. 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3200" b="1" dirty="0"/>
              <a:t>Strict Timing:</a:t>
            </a:r>
            <a:r>
              <a:rPr lang="en-IN" sz="3200" dirty="0"/>
              <a:t> Clock gating must be fast, reliable, and maintain less than 5% duty-cycle distortion. </a:t>
            </a:r>
          </a:p>
          <a:p>
            <a:pPr marL="457200" indent="-457200" algn="ctr">
              <a:lnSpc>
                <a:spcPts val="7279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2917" y="3259742"/>
            <a:ext cx="8820181" cy="214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2"/>
              </a:lnSpc>
            </a:pPr>
            <a:r>
              <a:rPr lang="en-US" sz="3994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  <a:p>
            <a:pPr algn="ctr">
              <a:lnSpc>
                <a:spcPts val="5592"/>
              </a:lnSpc>
            </a:pPr>
            <a:endParaRPr lang="en-US" sz="3994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ctr">
              <a:lnSpc>
                <a:spcPts val="5592"/>
              </a:lnSpc>
            </a:pPr>
            <a:endParaRPr lang="en-US" sz="3994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543354" y="484363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10800000" flipH="1" flipV="1">
            <a:off x="16316373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A12389-0A40-AC8B-06CB-CBDFC5F670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0" y="2450443"/>
            <a:ext cx="3423748" cy="3946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E783F7-883D-2998-B440-503C6EAA3E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4709" y="5417175"/>
            <a:ext cx="3285129" cy="3436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219690" y="2095968"/>
            <a:ext cx="16218283" cy="9149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4913" dirty="0" err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yOur</a:t>
            </a:r>
            <a:r>
              <a:rPr lang="en-US" sz="4913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Solution</a:t>
            </a:r>
          </a:p>
          <a:p>
            <a:pPr marL="1104087" lvl="1" indent="-552044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name : </a:t>
            </a:r>
            <a:r>
              <a:rPr lang="en-IN" sz="4000" dirty="0"/>
              <a:t>Low-Power Integrated Clock Gating for Mobile System-on-Chip.</a:t>
            </a:r>
            <a:endParaRPr lang="en-US" sz="4000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1104087" lvl="1" indent="-552044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One-line solution : </a:t>
            </a:r>
            <a:r>
              <a:rPr lang="en-IN" sz="4000" dirty="0"/>
              <a:t>Safely disable inactive block clocks to reduce power and restore them quickly without glitches.</a:t>
            </a:r>
            <a:endParaRPr lang="en-US" sz="4000" b="1" dirty="0">
              <a:solidFill>
                <a:srgbClr val="000000"/>
              </a:solidFill>
              <a:latin typeface="Times New Roman MT Bold"/>
              <a:sym typeface="Times New Roman MT Bold"/>
            </a:endParaRPr>
          </a:p>
          <a:p>
            <a:pPr marL="1104087" lvl="1" indent="-552044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it solves the problem : </a:t>
            </a:r>
          </a:p>
          <a:p>
            <a:pPr lvl="0"/>
            <a:r>
              <a:rPr lang="en-IN" sz="4000" b="1" dirty="0"/>
              <a:t>Saves Power:</a:t>
            </a:r>
            <a:r>
              <a:rPr lang="en-IN" sz="4000" dirty="0"/>
              <a:t> Turns OFF clocks for inactive blocks, reducing unnecessary switching. </a:t>
            </a:r>
          </a:p>
          <a:p>
            <a:pPr lvl="0"/>
            <a:r>
              <a:rPr lang="en-IN" sz="4000" b="1" dirty="0"/>
              <a:t>Ensures Safety:</a:t>
            </a:r>
            <a:r>
              <a:rPr lang="en-IN" sz="4000" dirty="0"/>
              <a:t> Handles wake-up safely and restores the clock within one cycle without glitches or incomplete pulses.</a:t>
            </a:r>
          </a:p>
          <a:p>
            <a:pPr marL="1104087" lvl="1" indent="-552044" algn="l">
              <a:lnSpc>
                <a:spcPts val="7159"/>
              </a:lnSpc>
              <a:buFont typeface="Arial"/>
              <a:buChar char="•"/>
            </a:pPr>
            <a:endParaRPr lang="en-US" sz="5113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marL="1104087" lvl="1" indent="-552044" algn="l">
              <a:lnSpc>
                <a:spcPts val="7159"/>
              </a:lnSpc>
              <a:buFont typeface="Arial"/>
              <a:buChar char="•"/>
            </a:pPr>
            <a:endParaRPr lang="en-US" sz="5113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7159"/>
              </a:lnSpc>
            </a:pPr>
            <a:endParaRPr lang="en-US" sz="5113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817253" y="1555526"/>
            <a:ext cx="13807903" cy="13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Architectural Block Diagram</a:t>
            </a:r>
          </a:p>
          <a:p>
            <a:pPr marL="397273" lvl="1" algn="l">
              <a:lnSpc>
                <a:spcPts val="5152"/>
              </a:lnSpc>
            </a:pPr>
            <a:r>
              <a:rPr lang="en-US" sz="368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721FCF-FD54-65E5-6522-853401A2C8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2"/>
          <a:stretch>
            <a:fillRect/>
          </a:stretch>
        </p:blipFill>
        <p:spPr>
          <a:xfrm>
            <a:off x="1993493" y="2325804"/>
            <a:ext cx="14856392" cy="79611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94070" y="2383938"/>
            <a:ext cx="17960476" cy="7956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01"/>
              </a:lnSpc>
            </a:pPr>
            <a:r>
              <a:rPr lang="en-US" sz="35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Purpose of Blocks</a:t>
            </a:r>
          </a:p>
          <a:p>
            <a:pPr algn="l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771266" lvl="1" indent="-385633">
              <a:buFont typeface="Arial"/>
              <a:buChar char="•"/>
            </a:pPr>
            <a:r>
              <a:rPr lang="en-US" sz="357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 Block – </a:t>
            </a:r>
            <a:r>
              <a:rPr lang="en-IN" sz="3600" dirty="0"/>
              <a:t>Receive clock, activity, and wake-up signals from the System-on-Chip</a:t>
            </a:r>
          </a:p>
          <a:p>
            <a:pPr marL="771266" lvl="1" indent="-385633">
              <a:buFont typeface="Arial"/>
              <a:buChar char="•"/>
            </a:pPr>
            <a:r>
              <a:rPr lang="en-US" sz="357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Processing Block – </a:t>
            </a:r>
            <a:r>
              <a:rPr lang="en-IN" sz="3600" dirty="0"/>
              <a:t>Detect idle conditions and decide when to safely gate or restore the clock.</a:t>
            </a: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r>
              <a:rPr lang="en-US" sz="357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 Block – </a:t>
            </a:r>
            <a:r>
              <a:rPr lang="en-IN" sz="3600" dirty="0"/>
              <a:t>Provide controlled gated clocks to the required functional blocks.</a:t>
            </a: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r>
              <a:rPr lang="en-IN" sz="3600" i="1" dirty="0"/>
              <a:t>Additional control and synchronization logic is introduced to achieve lower power consumption and reliable, glitch-free clock operation.</a:t>
            </a:r>
            <a:endParaRPr lang="en-US" sz="3572" i="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6A5B65-2EFF-B4E2-F2A2-A4F80FBEB0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75" y="6120765"/>
            <a:ext cx="15351340" cy="564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598170" y="1757927"/>
            <a:ext cx="16372074" cy="5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1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OUTPUTS AND 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28D662-DAF5-641C-86AE-155F5F39EC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388" y="2712914"/>
            <a:ext cx="14906625" cy="6429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CBC74-2958-BA4B-9FB5-7808EB02D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F204798-08FF-332E-2B99-7B49DD301962}"/>
              </a:ext>
            </a:extLst>
          </p:cNvPr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FEAA7E3-13E5-A9CF-5820-C4BE46B3C9E2}"/>
              </a:ext>
            </a:extLst>
          </p:cNvPr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A0FCD8-C385-7EB3-7934-7189BAA3A2D8}"/>
              </a:ext>
            </a:extLst>
          </p:cNvPr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1A699BB-458A-9947-3223-52E007D378C9}"/>
              </a:ext>
            </a:extLst>
          </p:cNvPr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3798C10-F77D-CF50-64B7-A83F6868CCE7}"/>
              </a:ext>
            </a:extLst>
          </p:cNvPr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5F62761-A029-E858-0A2C-73E3E96C1EEA}"/>
              </a:ext>
            </a:extLst>
          </p:cNvPr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38C7D90-93CB-2608-69C6-C0E1C579116D}"/>
              </a:ext>
            </a:extLst>
          </p:cNvPr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26B50C2-4CAF-4D52-57AD-24E52168CC33}"/>
              </a:ext>
            </a:extLst>
          </p:cNvPr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928AFC-5D40-125E-6DED-5B0C2601D8A9}"/>
              </a:ext>
            </a:extLst>
          </p:cNvPr>
          <p:cNvSpPr txBox="1"/>
          <p:nvPr/>
        </p:nvSpPr>
        <p:spPr>
          <a:xfrm>
            <a:off x="598170" y="1757927"/>
            <a:ext cx="16372074" cy="5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1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OUTPUTS AND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F65179-90B8-8556-D6D2-13AEB2251A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32" y="2533767"/>
            <a:ext cx="13335535" cy="712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0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668671" y="2685380"/>
            <a:ext cx="15167073" cy="7097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3680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RESEARCH AND REFERENCES</a:t>
            </a:r>
          </a:p>
          <a:p>
            <a:pPr marL="571500" indent="-571500" algn="ctr">
              <a:lnSpc>
                <a:spcPts val="5152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3680" dirty="0">
              <a:solidFill>
                <a:srgbClr val="000000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4000" b="1" dirty="0"/>
              <a:t>IEEE:</a:t>
            </a:r>
            <a:r>
              <a:rPr lang="en-IN" sz="4000" dirty="0"/>
              <a:t> Glitch-Free Integrated Clock Gating — </a:t>
            </a:r>
            <a:r>
              <a:rPr lang="en-IN" sz="4000" dirty="0">
                <a:hlinkClick r:id="rId7"/>
              </a:rPr>
              <a:t>https://doi.org/10.1109/CICC.1997.606671</a:t>
            </a:r>
            <a:endParaRPr lang="en-IN" sz="4000" dirty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4000" b="1" dirty="0"/>
              <a:t>IEEE:</a:t>
            </a:r>
            <a:r>
              <a:rPr lang="en-IN" sz="4000" dirty="0"/>
              <a:t> Clock-Gating for Low-Power Design — </a:t>
            </a:r>
            <a:r>
              <a:rPr lang="en-IN" sz="4000" dirty="0">
                <a:hlinkClick r:id="rId8"/>
              </a:rPr>
              <a:t>https://doi.org/10.1109/ISCAS.2019.8702507</a:t>
            </a:r>
            <a:endParaRPr lang="en-IN" sz="4000" dirty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4000" b="1" dirty="0"/>
              <a:t>Arm — AMBA Low Power Interface:</a:t>
            </a:r>
            <a:r>
              <a:rPr lang="en-IN" sz="4000" dirty="0"/>
              <a:t> </a:t>
            </a:r>
            <a:r>
              <a:rPr lang="en-IN" sz="4000" dirty="0">
                <a:hlinkClick r:id="rId9"/>
              </a:rPr>
              <a:t>Arm AMBA Low Power Interface</a:t>
            </a:r>
            <a:endParaRPr lang="en-IN" sz="4000" dirty="0"/>
          </a:p>
          <a:p>
            <a:pPr marL="571500" lvl="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4000" b="1" dirty="0"/>
              <a:t>AMD Xilinx:</a:t>
            </a:r>
            <a:r>
              <a:rPr lang="en-IN" sz="4000" dirty="0"/>
              <a:t> </a:t>
            </a:r>
            <a:r>
              <a:rPr lang="en-IN" sz="4000" dirty="0" err="1"/>
              <a:t>Vivado</a:t>
            </a:r>
            <a:r>
              <a:rPr lang="en-IN" sz="4000" dirty="0"/>
              <a:t> Design Suite — </a:t>
            </a:r>
            <a:r>
              <a:rPr lang="en-IN" sz="4000" dirty="0">
                <a:hlinkClick r:id="rId10"/>
              </a:rPr>
              <a:t>AMD </a:t>
            </a:r>
            <a:r>
              <a:rPr lang="en-IN" sz="4000" dirty="0" err="1">
                <a:hlinkClick r:id="rId10"/>
              </a:rPr>
              <a:t>Vivado</a:t>
            </a:r>
            <a:r>
              <a:rPr lang="en-IN" sz="4000" dirty="0">
                <a:hlinkClick r:id="rId10"/>
              </a:rPr>
              <a:t> Design Suite</a:t>
            </a:r>
            <a:endParaRPr lang="en-IN" sz="4000" dirty="0"/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290</Words>
  <Application>Microsoft Office PowerPoint</Application>
  <PresentationFormat>Custom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Times New Roman</vt:lpstr>
      <vt:lpstr>Arial</vt:lpstr>
      <vt:lpstr>Times New Roman MT Bold</vt:lpstr>
      <vt:lpstr>Canva Sans Bold</vt:lpstr>
      <vt:lpstr>Calibri</vt:lpstr>
      <vt:lpstr>Horizon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Sivamanoj 🦅</dc:creator>
  <cp:lastModifiedBy>Sivamanoj 🦅</cp:lastModifiedBy>
  <cp:revision>6</cp:revision>
  <dcterms:created xsi:type="dcterms:W3CDTF">2006-08-16T00:00:00Z</dcterms:created>
  <dcterms:modified xsi:type="dcterms:W3CDTF">2026-08-28T18:18:50Z</dcterms:modified>
  <dc:identifier>DAHTdevX50Q</dc:identifier>
</cp:coreProperties>
</file>